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3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4082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7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1188720"/>
            <a:ext cx="1737360" cy="0"/>
          </a:xfrm>
          <a:prstGeom prst="line">
            <a:avLst/>
          </a:prstGeom>
          <a:noFill/>
          <a:ln w="9525">
            <a:solidFill>
              <a:srgbClr val="38C6EE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0" y="822960"/>
            <a:ext cx="1554480" cy="1005840"/>
          </a:xfrm>
          <a:prstGeom prst="line">
            <a:avLst/>
          </a:prstGeom>
          <a:noFill/>
          <a:ln w="9525">
            <a:solidFill>
              <a:srgbClr val="38C6EE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1188720"/>
            <a:ext cx="1005840" cy="1645920"/>
          </a:xfrm>
          <a:prstGeom prst="line">
            <a:avLst/>
          </a:prstGeom>
          <a:noFill/>
          <a:ln w="9525">
            <a:solidFill>
              <a:srgbClr val="38C6EE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0" y="2834640"/>
            <a:ext cx="0" cy="1371600"/>
          </a:xfrm>
          <a:prstGeom prst="line">
            <a:avLst/>
          </a:prstGeom>
          <a:noFill/>
          <a:ln w="9525">
            <a:solidFill>
              <a:srgbClr val="38C6EE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81360" y="1371600"/>
            <a:ext cx="457200" cy="1737360"/>
          </a:xfrm>
          <a:prstGeom prst="line">
            <a:avLst/>
          </a:prstGeom>
          <a:noFill/>
          <a:ln w="9525">
            <a:solidFill>
              <a:srgbClr val="38C6EE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38560" y="3108960"/>
            <a:ext cx="0" cy="1645920"/>
          </a:xfrm>
          <a:prstGeom prst="line">
            <a:avLst/>
          </a:prstGeom>
          <a:noFill/>
          <a:ln w="9525">
            <a:solidFill>
              <a:srgbClr val="38C6EE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5520" y="4754880"/>
            <a:ext cx="1188720" cy="914400"/>
          </a:xfrm>
          <a:prstGeom prst="line">
            <a:avLst/>
          </a:prstGeom>
          <a:noFill/>
          <a:ln w="9525">
            <a:solidFill>
              <a:srgbClr val="38C6EE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828800"/>
            <a:ext cx="6583680" cy="0"/>
          </a:xfrm>
          <a:prstGeom prst="line">
            <a:avLst/>
          </a:prstGeom>
          <a:noFill/>
          <a:ln w="9525">
            <a:solidFill>
              <a:srgbClr val="38C6EE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4692" y="1147572"/>
            <a:ext cx="82296" cy="82296"/>
          </a:xfrm>
          <a:prstGeom prst="ellipse">
            <a:avLst/>
          </a:prstGeom>
          <a:solidFill>
            <a:srgbClr val="38C6EE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702052" y="781812"/>
            <a:ext cx="82296" cy="82296"/>
          </a:xfrm>
          <a:prstGeom prst="ellipse">
            <a:avLst/>
          </a:prstGeom>
          <a:solidFill>
            <a:srgbClr val="38C6EE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256532" y="1787652"/>
            <a:ext cx="82296" cy="82296"/>
          </a:xfrm>
          <a:prstGeom prst="ellipse">
            <a:avLst/>
          </a:prstGeom>
          <a:solidFill>
            <a:srgbClr val="38C6EE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970532" y="2793492"/>
            <a:ext cx="82296" cy="82296"/>
          </a:xfrm>
          <a:prstGeom prst="ellipse">
            <a:avLst/>
          </a:prstGeom>
          <a:solidFill>
            <a:srgbClr val="38C6EE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81812" y="4165092"/>
            <a:ext cx="82296" cy="82296"/>
          </a:xfrm>
          <a:prstGeom prst="ellipse">
            <a:avLst/>
          </a:prstGeom>
          <a:solidFill>
            <a:srgbClr val="38C6EE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840212" y="1330452"/>
            <a:ext cx="82296" cy="82296"/>
          </a:xfrm>
          <a:prstGeom prst="ellipse">
            <a:avLst/>
          </a:prstGeom>
          <a:solidFill>
            <a:srgbClr val="38C6EE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297412" y="3067812"/>
            <a:ext cx="82296" cy="82296"/>
          </a:xfrm>
          <a:prstGeom prst="ellipse">
            <a:avLst/>
          </a:prstGeom>
          <a:solidFill>
            <a:srgbClr val="38C6EE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834372" y="4713732"/>
            <a:ext cx="82296" cy="82296"/>
          </a:xfrm>
          <a:prstGeom prst="ellipse">
            <a:avLst/>
          </a:prstGeom>
          <a:solidFill>
            <a:srgbClr val="38C6EE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023092" y="5628132"/>
            <a:ext cx="82296" cy="82296"/>
          </a:xfrm>
          <a:prstGeom prst="ellipse">
            <a:avLst/>
          </a:prstGeom>
          <a:solidFill>
            <a:srgbClr val="38C6EE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336292" y="5719572"/>
            <a:ext cx="82296" cy="82296"/>
          </a:xfrm>
          <a:prstGeom prst="ellipse">
            <a:avLst/>
          </a:prstGeom>
          <a:solidFill>
            <a:srgbClr val="38C6EE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605272" y="1828800"/>
            <a:ext cx="987552" cy="1097280"/>
          </a:xfrm>
          <a:prstGeom prst="roundRect">
            <a:avLst>
              <a:gd name="adj" fmla="val 14815"/>
            </a:avLst>
          </a:prstGeom>
          <a:solidFill>
            <a:srgbClr val="17171B"/>
          </a:solidFill>
          <a:ln w="15875">
            <a:solidFill>
              <a:srgbClr val="38C6EE">
                <a:alpha val="7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05272" y="1874520"/>
            <a:ext cx="9875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8C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◗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0" y="320040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kern="0" spc="200" dirty="0">
                <a:solidFill>
                  <a:srgbClr val="F5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SENTINEL</a:t>
            </a:r>
            <a:endParaRPr lang="en-US" sz="6000" dirty="0"/>
          </a:p>
        </p:txBody>
      </p:sp>
      <p:sp>
        <p:nvSpPr>
          <p:cNvPr id="23" name="Text 21"/>
          <p:cNvSpPr/>
          <p:nvPr/>
        </p:nvSpPr>
        <p:spPr>
          <a:xfrm>
            <a:off x="0" y="41605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9A9A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that disappears when you're you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0" y="47091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100" dirty="0">
                <a:solidFill>
                  <a:srgbClr val="38C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 AI fraud immune system for banking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0" y="57150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Sentinel</a:t>
            </a:r>
            <a:r>
              <a:rPr lang="en-US" sz="1300" dirty="0">
                <a:solidFill>
                  <a:srgbClr val="9A9A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Inioluwa Aroyewun · Anuoluwa Deborah · Craig Oluwatobiloba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0" y="60807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HackX 2026 · Union Bank &amp; ECX 6.0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7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457200"/>
            <a:ext cx="1097280" cy="502920"/>
          </a:xfrm>
          <a:prstGeom prst="line">
            <a:avLst/>
          </a:prstGeom>
          <a:noFill/>
          <a:ln w="9525">
            <a:solidFill>
              <a:srgbClr val="38C6EE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960120"/>
            <a:ext cx="0" cy="640080"/>
          </a:xfrm>
          <a:prstGeom prst="line">
            <a:avLst/>
          </a:prstGeom>
          <a:noFill/>
          <a:ln w="9525">
            <a:solidFill>
              <a:srgbClr val="38C6EE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93424" y="914400"/>
            <a:ext cx="91440" cy="91440"/>
          </a:xfrm>
          <a:prstGeom prst="ellipse">
            <a:avLst/>
          </a:prstGeom>
          <a:solidFill>
            <a:srgbClr val="38C6EE"/>
          </a:solidFill>
          <a:ln/>
        </p:spPr>
      </p:sp>
      <p:sp>
        <p:nvSpPr>
          <p:cNvPr id="5" name="Shape 3"/>
          <p:cNvSpPr/>
          <p:nvPr/>
        </p:nvSpPr>
        <p:spPr>
          <a:xfrm>
            <a:off x="10287000" y="420624"/>
            <a:ext cx="73152" cy="73152"/>
          </a:xfrm>
          <a:prstGeom prst="ellipse">
            <a:avLst/>
          </a:prstGeom>
          <a:solidFill>
            <a:srgbClr val="38C6EE"/>
          </a:solidFill>
          <a:ln w="12700">
            <a:solidFill>
              <a:srgbClr val="38C6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8C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64190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80015" y="64190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9144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5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Fraud stopped getting louder.</a:t>
            </a:r>
            <a:endParaRPr lang="en-US" sz="3400" dirty="0"/>
          </a:p>
          <a:p>
            <a:pPr marL="0" indent="0" algn="l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5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 got smarter.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640080" y="2514600"/>
            <a:ext cx="4937760" cy="3200400"/>
          </a:xfrm>
          <a:prstGeom prst="roundRect">
            <a:avLst>
              <a:gd name="adj" fmla="val 2571"/>
            </a:avLst>
          </a:prstGeom>
          <a:solidFill>
            <a:srgbClr val="0F0F12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83464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38C6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₦25.85bn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1005840" y="379476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lost to digital payment fraud in Nigeria in 2025.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466344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A9A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Down 51% from ₦52.26bn in 2024 — collaboration is working.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53492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NIBSS Annual Fraud Landscape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26480" y="26060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5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Banks are great at asking “are you really you?”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126480" y="32918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A9A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They almost never ask the question that actually stops modern fraud: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26480" y="3886200"/>
            <a:ext cx="5486400" cy="777240"/>
          </a:xfrm>
          <a:prstGeom prst="roundRect">
            <a:avLst>
              <a:gd name="adj" fmla="val 10588"/>
            </a:avLst>
          </a:prstGeom>
          <a:solidFill>
            <a:srgbClr val="17171B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88620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38C6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“Does this actually look like something you'd do?”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26480" y="48920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a customer is tricked into approving a transfer, every OTP and PIN in the world waves it straight through. Identity was verified. The fraud still happened.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7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457200"/>
            <a:ext cx="1097280" cy="502920"/>
          </a:xfrm>
          <a:prstGeom prst="line">
            <a:avLst/>
          </a:prstGeom>
          <a:noFill/>
          <a:ln w="9525">
            <a:solidFill>
              <a:srgbClr val="38C6EE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960120"/>
            <a:ext cx="0" cy="640080"/>
          </a:xfrm>
          <a:prstGeom prst="line">
            <a:avLst/>
          </a:prstGeom>
          <a:noFill/>
          <a:ln w="9525">
            <a:solidFill>
              <a:srgbClr val="38C6EE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93424" y="914400"/>
            <a:ext cx="91440" cy="91440"/>
          </a:xfrm>
          <a:prstGeom prst="ellipse">
            <a:avLst/>
          </a:prstGeom>
          <a:solidFill>
            <a:srgbClr val="38C6EE"/>
          </a:solidFill>
          <a:ln/>
        </p:spPr>
      </p:sp>
      <p:sp>
        <p:nvSpPr>
          <p:cNvPr id="5" name="Shape 3"/>
          <p:cNvSpPr/>
          <p:nvPr/>
        </p:nvSpPr>
        <p:spPr>
          <a:xfrm>
            <a:off x="10287000" y="420624"/>
            <a:ext cx="73152" cy="73152"/>
          </a:xfrm>
          <a:prstGeom prst="ellipse">
            <a:avLst/>
          </a:prstGeom>
          <a:solidFill>
            <a:srgbClr val="38C6EE"/>
          </a:solidFill>
          <a:ln w="12700">
            <a:solidFill>
              <a:srgbClr val="38C6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8C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64190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80015" y="64190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9144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5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Sentinel checks intent, not just identity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9A9A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layer inside the banking app that answers one question for every action: does this make sense for this person, right now? It's invisible when you're safe, and it acts fast when you're not.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3429000" cy="2834640"/>
          </a:xfrm>
          <a:prstGeom prst="roundRect">
            <a:avLst>
              <a:gd name="adj" fmla="val 2903"/>
            </a:avLst>
          </a:prstGeom>
          <a:solidFill>
            <a:srgbClr val="0F0F12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3310128"/>
            <a:ext cx="128016" cy="128016"/>
          </a:xfrm>
          <a:prstGeom prst="ellipse">
            <a:avLst/>
          </a:prstGeom>
          <a:solidFill>
            <a:srgbClr val="38C6EE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1546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5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Personalization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60120" y="384048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9A9A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learns your </a:t>
            </a:r>
            <a:r>
              <a:rPr lang="en-US" sz="1400" dirty="0" smtClean="0">
                <a:solidFill>
                  <a:srgbClr val="9A9A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normal, </a:t>
            </a:r>
            <a:r>
              <a:rPr lang="en-US" sz="1400" dirty="0">
                <a:solidFill>
                  <a:srgbClr val="9A9A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amounts, timing, who you pay, even your PIN-tap rhythm.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25112" y="2926080"/>
            <a:ext cx="3429000" cy="2834640"/>
          </a:xfrm>
          <a:prstGeom prst="roundRect">
            <a:avLst>
              <a:gd name="adj" fmla="val 2903"/>
            </a:avLst>
          </a:prstGeom>
          <a:solidFill>
            <a:srgbClr val="0F0F12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45152" y="3310128"/>
            <a:ext cx="128016" cy="128016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7" name="Text 15"/>
          <p:cNvSpPr/>
          <p:nvPr/>
        </p:nvSpPr>
        <p:spPr>
          <a:xfrm>
            <a:off x="4873752" y="31546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5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Security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645152" y="384048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9A9A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 “normal” is the security. It decides when to stay invisible and when to step in.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10144" y="2926080"/>
            <a:ext cx="3429000" cy="2834640"/>
          </a:xfrm>
          <a:prstGeom prst="roundRect">
            <a:avLst>
              <a:gd name="adj" fmla="val 2903"/>
            </a:avLst>
          </a:prstGeom>
          <a:solidFill>
            <a:srgbClr val="0F0F12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30184" y="3310128"/>
            <a:ext cx="128016" cy="128016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1" name="Text 19"/>
          <p:cNvSpPr/>
          <p:nvPr/>
        </p:nvSpPr>
        <p:spPr>
          <a:xfrm>
            <a:off x="8558784" y="31546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5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Trust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330184" y="384048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9A9A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decision is explained in plain words, and you control the data behind it.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38C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Personalization isn't bolted onto security here. It IS the security.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7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457200"/>
            <a:ext cx="1097280" cy="502920"/>
          </a:xfrm>
          <a:prstGeom prst="line">
            <a:avLst/>
          </a:prstGeom>
          <a:noFill/>
          <a:ln w="9525">
            <a:solidFill>
              <a:srgbClr val="38C6EE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960120"/>
            <a:ext cx="0" cy="640080"/>
          </a:xfrm>
          <a:prstGeom prst="line">
            <a:avLst/>
          </a:prstGeom>
          <a:noFill/>
          <a:ln w="9525">
            <a:solidFill>
              <a:srgbClr val="38C6EE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93424" y="914400"/>
            <a:ext cx="91440" cy="91440"/>
          </a:xfrm>
          <a:prstGeom prst="ellipse">
            <a:avLst/>
          </a:prstGeom>
          <a:solidFill>
            <a:srgbClr val="38C6EE"/>
          </a:solidFill>
          <a:ln/>
        </p:spPr>
      </p:sp>
      <p:sp>
        <p:nvSpPr>
          <p:cNvPr id="5" name="Shape 3"/>
          <p:cNvSpPr/>
          <p:nvPr/>
        </p:nvSpPr>
        <p:spPr>
          <a:xfrm>
            <a:off x="10287000" y="420624"/>
            <a:ext cx="73152" cy="73152"/>
          </a:xfrm>
          <a:prstGeom prst="ellipse">
            <a:avLst/>
          </a:prstGeom>
          <a:solidFill>
            <a:srgbClr val="38C6EE"/>
          </a:solidFill>
          <a:ln w="12700">
            <a:solidFill>
              <a:srgbClr val="38C6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8C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64190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80015" y="64190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9144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5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risk score. Four outcomes.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A9A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action runs through the risk engine, which turns behaviour into a live score.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514600"/>
            <a:ext cx="2560320" cy="2286000"/>
          </a:xfrm>
          <a:prstGeom prst="roundRect">
            <a:avLst>
              <a:gd name="adj" fmla="val 3600"/>
            </a:avLst>
          </a:prstGeom>
          <a:solidFill>
            <a:srgbClr val="0F0F12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514600"/>
            <a:ext cx="73152" cy="2286000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697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ECF8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Low risk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24612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Goes straight through. No extra code.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01568" y="2514600"/>
            <a:ext cx="2560320" cy="2286000"/>
          </a:xfrm>
          <a:prstGeom prst="roundRect">
            <a:avLst>
              <a:gd name="adj" fmla="val 3600"/>
            </a:avLst>
          </a:prstGeom>
          <a:solidFill>
            <a:srgbClr val="0F0F12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01568" y="2514600"/>
            <a:ext cx="73152" cy="2286000"/>
          </a:xfrm>
          <a:prstGeom prst="rect">
            <a:avLst/>
          </a:prstGeom>
          <a:solidFill>
            <a:srgbClr val="F5A524"/>
          </a:solidFill>
          <a:ln/>
        </p:spPr>
      </p:sp>
      <p:sp>
        <p:nvSpPr>
          <p:cNvPr id="17" name="Text 15"/>
          <p:cNvSpPr/>
          <p:nvPr/>
        </p:nvSpPr>
        <p:spPr>
          <a:xfrm>
            <a:off x="3675888" y="2697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A52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Elevated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75888" y="324612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</a:t>
            </a:r>
            <a:r>
              <a:rPr lang="en-US" sz="1300" dirty="0" smtClean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step-up, </a:t>
            </a:r>
            <a:r>
              <a:rPr lang="en-US" sz="1300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fingerprint or one-time code.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63056" y="2514600"/>
            <a:ext cx="2560320" cy="2286000"/>
          </a:xfrm>
          <a:prstGeom prst="roundRect">
            <a:avLst>
              <a:gd name="adj" fmla="val 3600"/>
            </a:avLst>
          </a:prstGeom>
          <a:solidFill>
            <a:srgbClr val="0F0F12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63056" y="2514600"/>
            <a:ext cx="73152" cy="2286000"/>
          </a:xfrm>
          <a:prstGeom prst="rect">
            <a:avLst/>
          </a:prstGeom>
          <a:solidFill>
            <a:srgbClr val="38C6EE"/>
          </a:solidFill>
          <a:ln/>
        </p:spPr>
      </p:sp>
      <p:sp>
        <p:nvSpPr>
          <p:cNvPr id="21" name="Text 19"/>
          <p:cNvSpPr/>
          <p:nvPr/>
        </p:nvSpPr>
        <p:spPr>
          <a:xfrm>
            <a:off x="6437376" y="2697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8C6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Scam signal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37376" y="324612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ScamGuard reads the message and explains the red flags.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924544" y="2514600"/>
            <a:ext cx="2560320" cy="2286000"/>
          </a:xfrm>
          <a:prstGeom prst="roundRect">
            <a:avLst>
              <a:gd name="adj" fmla="val 3600"/>
            </a:avLst>
          </a:prstGeom>
          <a:solidFill>
            <a:srgbClr val="0F0F12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24544" y="2514600"/>
            <a:ext cx="73152" cy="22860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5" name="Text 23"/>
          <p:cNvSpPr/>
          <p:nvPr/>
        </p:nvSpPr>
        <p:spPr>
          <a:xfrm>
            <a:off x="9198864" y="2697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6B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Duress PIN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98864" y="324612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 mode: decoy account or dead app, plus a silent alarm.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5074920"/>
            <a:ext cx="10908792" cy="868680"/>
          </a:xfrm>
          <a:prstGeom prst="roundRect">
            <a:avLst>
              <a:gd name="adj" fmla="val 9474"/>
            </a:avLst>
          </a:prstGeom>
          <a:solidFill>
            <a:srgbClr val="17171B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507492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8C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↳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463040" y="5074920"/>
            <a:ext cx="9784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Anything confirmed as a real threat is written to a shared feed. </a:t>
            </a:r>
            <a:r>
              <a:rPr lang="en-US" sz="1400" b="1" dirty="0">
                <a:solidFill>
                  <a:srgbClr val="38C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That's herd </a:t>
            </a:r>
            <a:r>
              <a:rPr lang="en-US" sz="1400" b="1" dirty="0" smtClean="0">
                <a:solidFill>
                  <a:srgbClr val="38C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immunity, </a:t>
            </a:r>
            <a:r>
              <a:rPr lang="en-US" sz="1400" b="1" dirty="0">
                <a:solidFill>
                  <a:srgbClr val="38C6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person's close call protects every other customer instantly.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7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457200"/>
            <a:ext cx="1097280" cy="502920"/>
          </a:xfrm>
          <a:prstGeom prst="line">
            <a:avLst/>
          </a:prstGeom>
          <a:noFill/>
          <a:ln w="9525">
            <a:solidFill>
              <a:srgbClr val="38C6EE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960120"/>
            <a:ext cx="0" cy="640080"/>
          </a:xfrm>
          <a:prstGeom prst="line">
            <a:avLst/>
          </a:prstGeom>
          <a:noFill/>
          <a:ln w="9525">
            <a:solidFill>
              <a:srgbClr val="38C6EE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93424" y="914400"/>
            <a:ext cx="91440" cy="91440"/>
          </a:xfrm>
          <a:prstGeom prst="ellipse">
            <a:avLst/>
          </a:prstGeom>
          <a:solidFill>
            <a:srgbClr val="38C6EE"/>
          </a:solidFill>
          <a:ln/>
        </p:spPr>
      </p:sp>
      <p:sp>
        <p:nvSpPr>
          <p:cNvPr id="5" name="Shape 3"/>
          <p:cNvSpPr/>
          <p:nvPr/>
        </p:nvSpPr>
        <p:spPr>
          <a:xfrm>
            <a:off x="10287000" y="420624"/>
            <a:ext cx="73152" cy="73152"/>
          </a:xfrm>
          <a:prstGeom prst="ellipse">
            <a:avLst/>
          </a:prstGeom>
          <a:solidFill>
            <a:srgbClr val="38C6EE"/>
          </a:solidFill>
          <a:ln w="12700">
            <a:solidFill>
              <a:srgbClr val="38C6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8C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 BUILT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64190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80015" y="64190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9144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5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Twelve features, all live and wired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640080" y="1965960"/>
            <a:ext cx="5303520" cy="621792"/>
          </a:xfrm>
          <a:prstGeom prst="roundRect">
            <a:avLst>
              <a:gd name="adj" fmla="val 13235"/>
            </a:avLst>
          </a:prstGeom>
          <a:solidFill>
            <a:srgbClr val="0F0F12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65960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8C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1965960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Adaptive risk engine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1965960"/>
            <a:ext cx="5303520" cy="621792"/>
          </a:xfrm>
          <a:prstGeom prst="roundRect">
            <a:avLst>
              <a:gd name="adj" fmla="val 13235"/>
            </a:avLst>
          </a:prstGeom>
          <a:solidFill>
            <a:srgbClr val="0F0F12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965960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8C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86600" y="1965960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ScamGuard (text · screenshot · voice note)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2697480"/>
            <a:ext cx="5303520" cy="621792"/>
          </a:xfrm>
          <a:prstGeom prst="roundRect">
            <a:avLst>
              <a:gd name="adj" fmla="val 13235"/>
            </a:avLst>
          </a:prstGeom>
          <a:solidFill>
            <a:srgbClr val="0F0F12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2697480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8C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2697480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Herd immunity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2697480"/>
            <a:ext cx="5303520" cy="621792"/>
          </a:xfrm>
          <a:prstGeom prst="roundRect">
            <a:avLst>
              <a:gd name="adj" fmla="val 13235"/>
            </a:avLst>
          </a:prstGeom>
          <a:solidFill>
            <a:srgbClr val="0F0F12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2697480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8C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86600" y="2697480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Freeze, cool-off, auto-report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3429000"/>
            <a:ext cx="5303520" cy="621792"/>
          </a:xfrm>
          <a:prstGeom prst="roundRect">
            <a:avLst>
              <a:gd name="adj" fmla="val 13235"/>
            </a:avLst>
          </a:prstGeom>
          <a:solidFill>
            <a:srgbClr val="0F0F12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429000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8C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54480" y="3429000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Duress PIN + decoy / dead-app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72200" y="3429000"/>
            <a:ext cx="5303520" cy="621792"/>
          </a:xfrm>
          <a:prstGeom prst="roundRect">
            <a:avLst>
              <a:gd name="adj" fmla="val 13235"/>
            </a:avLst>
          </a:prstGeom>
          <a:solidFill>
            <a:srgbClr val="0F0F12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3429000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8C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86600" y="3429000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Guardian Mode (delay, never access)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4160520"/>
            <a:ext cx="5303520" cy="621792"/>
          </a:xfrm>
          <a:prstGeom prst="roundRect">
            <a:avLst>
              <a:gd name="adj" fmla="val 13235"/>
            </a:avLst>
          </a:prstGeom>
          <a:solidFill>
            <a:srgbClr val="0F0F12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160520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8C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554480" y="4160520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You-stay-in-charge override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172200" y="4160520"/>
            <a:ext cx="5303520" cy="621792"/>
          </a:xfrm>
          <a:prstGeom prst="roundRect">
            <a:avLst>
              <a:gd name="adj" fmla="val 13235"/>
            </a:avLst>
          </a:prstGeom>
          <a:solidFill>
            <a:srgbClr val="0F0F12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4160520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8C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086600" y="4160520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Verifiable receipts + /verify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40080" y="4892040"/>
            <a:ext cx="5303520" cy="621792"/>
          </a:xfrm>
          <a:prstGeom prst="roundRect">
            <a:avLst>
              <a:gd name="adj" fmla="val 13235"/>
            </a:avLst>
          </a:prstGeom>
          <a:solidFill>
            <a:srgbClr val="0F0F12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4892040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8C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554480" y="4892040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Sentinel Core — our own AI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172200" y="4892040"/>
            <a:ext cx="5303520" cy="621792"/>
          </a:xfrm>
          <a:prstGeom prst="roundRect">
            <a:avLst>
              <a:gd name="adj" fmla="val 13235"/>
            </a:avLst>
          </a:prstGeom>
          <a:solidFill>
            <a:srgbClr val="0F0F12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4892040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8C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086600" y="4892040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Spending-pace insight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40080" y="5623560"/>
            <a:ext cx="5303520" cy="621792"/>
          </a:xfrm>
          <a:prstGeom prst="roundRect">
            <a:avLst>
              <a:gd name="adj" fmla="val 13235"/>
            </a:avLst>
          </a:prstGeom>
          <a:solidFill>
            <a:srgbClr val="0F0F12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8680" y="5623560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8C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554480" y="5623560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 Center + decision log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172200" y="5623560"/>
            <a:ext cx="5303520" cy="621792"/>
          </a:xfrm>
          <a:prstGeom prst="roundRect">
            <a:avLst>
              <a:gd name="adj" fmla="val 13235"/>
            </a:avLst>
          </a:prstGeom>
          <a:solidFill>
            <a:srgbClr val="0F0F12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0" y="5623560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8C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086600" y="5623560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accounts for judges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7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457200"/>
            <a:ext cx="1097280" cy="502920"/>
          </a:xfrm>
          <a:prstGeom prst="line">
            <a:avLst/>
          </a:prstGeom>
          <a:noFill/>
          <a:ln w="9525">
            <a:solidFill>
              <a:srgbClr val="38C6EE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960120"/>
            <a:ext cx="0" cy="640080"/>
          </a:xfrm>
          <a:prstGeom prst="line">
            <a:avLst/>
          </a:prstGeom>
          <a:noFill/>
          <a:ln w="9525">
            <a:solidFill>
              <a:srgbClr val="38C6EE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93424" y="914400"/>
            <a:ext cx="91440" cy="91440"/>
          </a:xfrm>
          <a:prstGeom prst="ellipse">
            <a:avLst/>
          </a:prstGeom>
          <a:solidFill>
            <a:srgbClr val="38C6EE"/>
          </a:solidFill>
          <a:ln/>
        </p:spPr>
      </p:sp>
      <p:sp>
        <p:nvSpPr>
          <p:cNvPr id="5" name="Shape 3"/>
          <p:cNvSpPr/>
          <p:nvPr/>
        </p:nvSpPr>
        <p:spPr>
          <a:xfrm>
            <a:off x="10287000" y="420624"/>
            <a:ext cx="73152" cy="73152"/>
          </a:xfrm>
          <a:prstGeom prst="ellipse">
            <a:avLst/>
          </a:prstGeom>
          <a:solidFill>
            <a:srgbClr val="38C6EE"/>
          </a:solidFill>
          <a:ln w="12700">
            <a:solidFill>
              <a:srgbClr val="38C6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8C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WE'RE DIFFERENT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64190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80015" y="64190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9144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5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Three things no fraud alert does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640080" y="1965960"/>
            <a:ext cx="3429000" cy="3977640"/>
          </a:xfrm>
          <a:prstGeom prst="roundRect">
            <a:avLst>
              <a:gd name="adj" fmla="val 2400"/>
            </a:avLst>
          </a:prstGeom>
          <a:solidFill>
            <a:srgbClr val="0F0F12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965960"/>
            <a:ext cx="3429000" cy="82296"/>
          </a:xfrm>
          <a:prstGeom prst="rect">
            <a:avLst/>
          </a:prstGeom>
          <a:solidFill>
            <a:srgbClr val="38C6EE"/>
          </a:solidFill>
          <a:ln/>
        </p:spPr>
      </p:sp>
      <p:sp>
        <p:nvSpPr>
          <p:cNvPr id="12" name="Shape 10"/>
          <p:cNvSpPr/>
          <p:nvPr/>
        </p:nvSpPr>
        <p:spPr>
          <a:xfrm>
            <a:off x="960120" y="2377440"/>
            <a:ext cx="128016" cy="128016"/>
          </a:xfrm>
          <a:prstGeom prst="ellipse">
            <a:avLst/>
          </a:prstGeom>
          <a:solidFill>
            <a:srgbClr val="38C6EE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221284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Herd immunity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274320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38C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hero moment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3200400"/>
            <a:ext cx="28803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9A9A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one scam account and it's blocked for every customer at once. Most security protects one account. This protects a </a:t>
            </a:r>
            <a:r>
              <a:rPr lang="en-US" sz="1300" dirty="0" smtClean="0">
                <a:solidFill>
                  <a:srgbClr val="9A9A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network, </a:t>
            </a:r>
            <a:r>
              <a:rPr lang="en-US" sz="1300" dirty="0">
                <a:solidFill>
                  <a:srgbClr val="9A9A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it gets stronger the more people use it.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25112" y="1965960"/>
            <a:ext cx="3429000" cy="3977640"/>
          </a:xfrm>
          <a:prstGeom prst="roundRect">
            <a:avLst>
              <a:gd name="adj" fmla="val 2400"/>
            </a:avLst>
          </a:prstGeom>
          <a:solidFill>
            <a:srgbClr val="0F0F12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25112" y="1965960"/>
            <a:ext cx="3429000" cy="82296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Shape 16"/>
          <p:cNvSpPr/>
          <p:nvPr/>
        </p:nvSpPr>
        <p:spPr>
          <a:xfrm>
            <a:off x="4645152" y="2377440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9" name="Text 17"/>
          <p:cNvSpPr/>
          <p:nvPr/>
        </p:nvSpPr>
        <p:spPr>
          <a:xfrm>
            <a:off x="4873752" y="221284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Duress protection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645152" y="274320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one that lands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45152" y="3200400"/>
            <a:ext cx="28803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9A9A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panic PIN opens a decoy account or a fake “connection lost” screen, locks the real money, and fires a silent alarm. Receipts made under duress download stamped FAKE and never </a:t>
            </a:r>
            <a:r>
              <a:rPr lang="en-US" sz="1300" dirty="0" smtClean="0">
                <a:solidFill>
                  <a:srgbClr val="9A9A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verify, </a:t>
            </a:r>
            <a:r>
              <a:rPr lang="en-US" sz="1300" dirty="0">
                <a:solidFill>
                  <a:srgbClr val="9A9A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 safe mode can't be turned into a scam tool.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10144" y="1965960"/>
            <a:ext cx="3429000" cy="3977640"/>
          </a:xfrm>
          <a:prstGeom prst="roundRect">
            <a:avLst>
              <a:gd name="adj" fmla="val 2400"/>
            </a:avLst>
          </a:prstGeom>
          <a:solidFill>
            <a:srgbClr val="0F0F12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10144" y="1965960"/>
            <a:ext cx="3429000" cy="82296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24" name="Shape 22"/>
          <p:cNvSpPr/>
          <p:nvPr/>
        </p:nvSpPr>
        <p:spPr>
          <a:xfrm>
            <a:off x="8330184" y="2377440"/>
            <a:ext cx="128016" cy="128016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25" name="Text 23"/>
          <p:cNvSpPr/>
          <p:nvPr/>
        </p:nvSpPr>
        <p:spPr>
          <a:xfrm>
            <a:off x="8558784" y="221284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Our own AI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330184" y="274320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3EC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technical edge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30184" y="3200400"/>
            <a:ext cx="28803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9A9A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Sentinel Core is a scam classifier we trained. It learns from every community report and from Gemini's verdicts. If the cloud is down </a:t>
            </a:r>
            <a:r>
              <a:rPr lang="en-US" sz="1300" dirty="0" smtClean="0">
                <a:solidFill>
                  <a:srgbClr val="9A9A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>
                <a:solidFill>
                  <a:srgbClr val="9A9A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 the bank wants zero third-party </a:t>
            </a:r>
            <a:r>
              <a:rPr lang="en-US" sz="1300" dirty="0" smtClean="0">
                <a:solidFill>
                  <a:srgbClr val="9A9A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data, detection </a:t>
            </a:r>
            <a:r>
              <a:rPr lang="en-US" sz="1300" dirty="0">
                <a:solidFill>
                  <a:srgbClr val="9A9A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still works.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7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457200"/>
            <a:ext cx="1097280" cy="502920"/>
          </a:xfrm>
          <a:prstGeom prst="line">
            <a:avLst/>
          </a:prstGeom>
          <a:noFill/>
          <a:ln w="9525">
            <a:solidFill>
              <a:srgbClr val="38C6EE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960120"/>
            <a:ext cx="0" cy="640080"/>
          </a:xfrm>
          <a:prstGeom prst="line">
            <a:avLst/>
          </a:prstGeom>
          <a:noFill/>
          <a:ln w="9525">
            <a:solidFill>
              <a:srgbClr val="38C6EE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93424" y="914400"/>
            <a:ext cx="91440" cy="91440"/>
          </a:xfrm>
          <a:prstGeom prst="ellipse">
            <a:avLst/>
          </a:prstGeom>
          <a:solidFill>
            <a:srgbClr val="38C6EE"/>
          </a:solidFill>
          <a:ln/>
        </p:spPr>
      </p:sp>
      <p:sp>
        <p:nvSpPr>
          <p:cNvPr id="5" name="Shape 3"/>
          <p:cNvSpPr/>
          <p:nvPr/>
        </p:nvSpPr>
        <p:spPr>
          <a:xfrm>
            <a:off x="10287000" y="420624"/>
            <a:ext cx="73152" cy="73152"/>
          </a:xfrm>
          <a:prstGeom prst="ellipse">
            <a:avLst/>
          </a:prstGeom>
          <a:solidFill>
            <a:srgbClr val="38C6EE"/>
          </a:solidFill>
          <a:ln w="12700">
            <a:solidFill>
              <a:srgbClr val="38C6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8C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REGULATION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64190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80015" y="64190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9144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5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 work with the rules, not around them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F5A5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“No OTP” would be a liability. So that's not what Sentinel does.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2468880"/>
            <a:ext cx="5394960" cy="3291840"/>
          </a:xfrm>
          <a:prstGeom prst="roundRect">
            <a:avLst>
              <a:gd name="adj" fmla="val 2500"/>
            </a:avLst>
          </a:prstGeom>
          <a:solidFill>
            <a:srgbClr val="0F0F12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6517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5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Always three factors — before any code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60120" y="3355848"/>
            <a:ext cx="128016" cy="128016"/>
          </a:xfrm>
          <a:prstGeom prst="ellipse">
            <a:avLst/>
          </a:prstGeom>
          <a:solidFill>
            <a:srgbClr val="38C6EE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3246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55701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A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something you know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0120" y="4105656"/>
            <a:ext cx="128016" cy="128016"/>
          </a:xfrm>
          <a:prstGeom prst="ellipse">
            <a:avLst/>
          </a:prstGeom>
          <a:solidFill>
            <a:srgbClr val="38C6EE"/>
          </a:solidFill>
          <a:ln/>
        </p:spPr>
      </p:sp>
      <p:sp>
        <p:nvSpPr>
          <p:cNvPr id="17" name="Text 15"/>
          <p:cNvSpPr/>
          <p:nvPr/>
        </p:nvSpPr>
        <p:spPr>
          <a:xfrm>
            <a:off x="1234440" y="39959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Enrolled device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430682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A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something you have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60120" y="4855464"/>
            <a:ext cx="128016" cy="128016"/>
          </a:xfrm>
          <a:prstGeom prst="ellipse">
            <a:avLst/>
          </a:prstGeom>
          <a:solidFill>
            <a:srgbClr val="38C6EE"/>
          </a:solidFill>
          <a:ln/>
        </p:spPr>
      </p:sp>
      <p:sp>
        <p:nvSpPr>
          <p:cNvPr id="20" name="Text 18"/>
          <p:cNvSpPr/>
          <p:nvPr/>
        </p:nvSpPr>
        <p:spPr>
          <a:xfrm>
            <a:off x="1234440" y="474573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Tap rhythm &amp; behaviour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34440" y="505663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A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something you are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46520" y="24688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8C6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This is risk-based authentication — the model regulators encourage.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46520" y="320040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only drop the </a:t>
            </a:r>
            <a:r>
              <a:rPr lang="en-US" sz="1400" b="1" i="1" dirty="0">
                <a:solidFill>
                  <a:srgbClr val="F5A5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redundant</a:t>
            </a:r>
            <a:r>
              <a:rPr lang="en-US" sz="1400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one-time code on a transfer we can already see is </a:t>
            </a:r>
            <a:r>
              <a:rPr lang="en-US" sz="1400" dirty="0" smtClean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normal, </a:t>
            </a:r>
            <a:r>
              <a:rPr lang="en-US" sz="1400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we force a strong step-up the moment risk rises.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46520" y="4434840"/>
            <a:ext cx="5120640" cy="1325880"/>
          </a:xfrm>
          <a:prstGeom prst="roundRect">
            <a:avLst>
              <a:gd name="adj" fmla="val 6207"/>
            </a:avLst>
          </a:prstGeom>
          <a:solidFill>
            <a:srgbClr val="17171B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4434840"/>
            <a:ext cx="4572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Sentinel sits on top of the bank's controls. The bank keeps whatever authentication policy the CBN requires. We just decide when to trigger the stronger check.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7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457200"/>
            <a:ext cx="1097280" cy="502920"/>
          </a:xfrm>
          <a:prstGeom prst="line">
            <a:avLst/>
          </a:prstGeom>
          <a:noFill/>
          <a:ln w="9525">
            <a:solidFill>
              <a:srgbClr val="38C6EE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960120"/>
            <a:ext cx="0" cy="640080"/>
          </a:xfrm>
          <a:prstGeom prst="line">
            <a:avLst/>
          </a:prstGeom>
          <a:noFill/>
          <a:ln w="9525">
            <a:solidFill>
              <a:srgbClr val="38C6EE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93424" y="914400"/>
            <a:ext cx="91440" cy="91440"/>
          </a:xfrm>
          <a:prstGeom prst="ellipse">
            <a:avLst/>
          </a:prstGeom>
          <a:solidFill>
            <a:srgbClr val="38C6EE"/>
          </a:solidFill>
          <a:ln/>
        </p:spPr>
      </p:sp>
      <p:sp>
        <p:nvSpPr>
          <p:cNvPr id="5" name="Shape 3"/>
          <p:cNvSpPr/>
          <p:nvPr/>
        </p:nvSpPr>
        <p:spPr>
          <a:xfrm>
            <a:off x="10287000" y="420624"/>
            <a:ext cx="73152" cy="73152"/>
          </a:xfrm>
          <a:prstGeom prst="ellipse">
            <a:avLst/>
          </a:prstGeom>
          <a:solidFill>
            <a:srgbClr val="38C6EE"/>
          </a:solidFill>
          <a:ln w="12700">
            <a:solidFill>
              <a:srgbClr val="38C6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8C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64190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80015" y="64190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9144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5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Architecture &amp; stack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640080" y="2103120"/>
            <a:ext cx="2468880" cy="1554480"/>
          </a:xfrm>
          <a:prstGeom prst="roundRect">
            <a:avLst>
              <a:gd name="adj" fmla="val 5294"/>
            </a:avLst>
          </a:prstGeom>
          <a:solidFill>
            <a:srgbClr val="0F0F12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2860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Banking app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27889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38C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· React · Tailwind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27248" y="2103120"/>
            <a:ext cx="29260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E6E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401568" y="2103120"/>
            <a:ext cx="2468880" cy="1554480"/>
          </a:xfrm>
          <a:prstGeom prst="roundRect">
            <a:avLst>
              <a:gd name="adj" fmla="val 5294"/>
            </a:avLst>
          </a:prstGeom>
          <a:solidFill>
            <a:srgbClr val="0F0F12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30168" y="22860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Risk engine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30168" y="27889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38C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behavioural scoring (Node)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88736" y="2103120"/>
            <a:ext cx="29260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E6E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163056" y="2103120"/>
            <a:ext cx="2468880" cy="1554480"/>
          </a:xfrm>
          <a:prstGeom prst="roundRect">
            <a:avLst>
              <a:gd name="adj" fmla="val 5294"/>
            </a:avLst>
          </a:prstGeom>
          <a:solidFill>
            <a:srgbClr val="0F0F12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91656" y="22860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 AI engines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91656" y="27889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38C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 + Sentinel Core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50224" y="2103120"/>
            <a:ext cx="29260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E6E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924544" y="2103120"/>
            <a:ext cx="2468880" cy="1554480"/>
          </a:xfrm>
          <a:prstGeom prst="roundRect">
            <a:avLst>
              <a:gd name="adj" fmla="val 5294"/>
            </a:avLst>
          </a:prstGeom>
          <a:solidFill>
            <a:srgbClr val="0F0F12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53144" y="22860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Shared store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53144" y="27889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38C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MongoDB · threat feed + model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3977640"/>
            <a:ext cx="3429000" cy="1920240"/>
          </a:xfrm>
          <a:prstGeom prst="roundRect">
            <a:avLst>
              <a:gd name="adj" fmla="val 4286"/>
            </a:avLst>
          </a:prstGeom>
          <a:solidFill>
            <a:srgbClr val="17171B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160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38C6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Real AI, no fakery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14400" y="452628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9A9A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2.5 Flash reads text and screenshots. Sentinel Core is a naive-Bayes model that trains on every report. No hardcoded dummy responses.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325112" y="3977640"/>
            <a:ext cx="3429000" cy="1920240"/>
          </a:xfrm>
          <a:prstGeom prst="roundRect">
            <a:avLst>
              <a:gd name="adj" fmla="val 4286"/>
            </a:avLst>
          </a:prstGeom>
          <a:solidFill>
            <a:srgbClr val="17171B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99432" y="4160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38C6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Durable &amp; serverless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4599432" y="452628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9A9A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survives lambda restarts; the store sits behind one seam, so Mongo swaps in cleanly.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010144" y="3977640"/>
            <a:ext cx="3429000" cy="1920240"/>
          </a:xfrm>
          <a:prstGeom prst="roundRect">
            <a:avLst>
              <a:gd name="adj" fmla="val 4286"/>
            </a:avLst>
          </a:prstGeom>
          <a:solidFill>
            <a:srgbClr val="17171B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84464" y="4160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38C6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Proven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284464" y="452628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9A9A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65-check end-to-end suite covers signup, risk levels, herd immunity, guardian holds, duress, receipts, and AI training.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7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457200"/>
            <a:ext cx="1097280" cy="502920"/>
          </a:xfrm>
          <a:prstGeom prst="line">
            <a:avLst/>
          </a:prstGeom>
          <a:noFill/>
          <a:ln w="9525">
            <a:solidFill>
              <a:srgbClr val="38C6EE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960120"/>
            <a:ext cx="0" cy="640080"/>
          </a:xfrm>
          <a:prstGeom prst="line">
            <a:avLst/>
          </a:prstGeom>
          <a:noFill/>
          <a:ln w="9525">
            <a:solidFill>
              <a:srgbClr val="38C6EE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93424" y="914400"/>
            <a:ext cx="91440" cy="91440"/>
          </a:xfrm>
          <a:prstGeom prst="ellipse">
            <a:avLst/>
          </a:prstGeom>
          <a:solidFill>
            <a:srgbClr val="38C6EE"/>
          </a:solidFill>
          <a:ln/>
        </p:spPr>
      </p:sp>
      <p:sp>
        <p:nvSpPr>
          <p:cNvPr id="5" name="Shape 3"/>
          <p:cNvSpPr/>
          <p:nvPr/>
        </p:nvSpPr>
        <p:spPr>
          <a:xfrm>
            <a:off x="10287000" y="420624"/>
            <a:ext cx="73152" cy="73152"/>
          </a:xfrm>
          <a:prstGeom prst="ellipse">
            <a:avLst/>
          </a:prstGeom>
          <a:solidFill>
            <a:srgbClr val="38C6EE"/>
          </a:solidFill>
          <a:ln w="12700">
            <a:solidFill>
              <a:srgbClr val="38C6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8C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IT IS TODAY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64190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80015" y="64190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9144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5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Not a plan. It's live.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640080" y="2103120"/>
            <a:ext cx="2560320" cy="1828800"/>
          </a:xfrm>
          <a:prstGeom prst="roundRect">
            <a:avLst>
              <a:gd name="adj" fmla="val 4500"/>
            </a:avLst>
          </a:prstGeom>
          <a:solidFill>
            <a:srgbClr val="0F0F12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28600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38C6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12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96112" y="32004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9A9A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 built &amp; wired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401568" y="2103120"/>
            <a:ext cx="2560320" cy="1828800"/>
          </a:xfrm>
          <a:prstGeom prst="roundRect">
            <a:avLst>
              <a:gd name="adj" fmla="val 4500"/>
            </a:avLst>
          </a:prstGeom>
          <a:solidFill>
            <a:srgbClr val="0F0F12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30168" y="228600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3ECF8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65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3657600" y="32004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9A9A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checks passing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63056" y="2103120"/>
            <a:ext cx="2560320" cy="1828800"/>
          </a:xfrm>
          <a:prstGeom prst="roundRect">
            <a:avLst>
              <a:gd name="adj" fmla="val 4500"/>
            </a:avLst>
          </a:prstGeom>
          <a:solidFill>
            <a:srgbClr val="0F0F12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91656" y="228600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5A52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419088" y="32004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9A9A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engines, switchable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924544" y="2103120"/>
            <a:ext cx="2560320" cy="1828800"/>
          </a:xfrm>
          <a:prstGeom prst="roundRect">
            <a:avLst>
              <a:gd name="adj" fmla="val 4500"/>
            </a:avLst>
          </a:prstGeom>
          <a:solidFill>
            <a:srgbClr val="0F0F12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53144" y="228600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 smtClean="0">
                <a:solidFill>
                  <a:srgbClr val="F5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21s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9180576" y="32004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9A9A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a judge to open an account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251960"/>
            <a:ext cx="10908792" cy="1554480"/>
          </a:xfrm>
          <a:prstGeom prst="roundRect">
            <a:avLst>
              <a:gd name="adj" fmla="val 5294"/>
            </a:avLst>
          </a:prstGeom>
          <a:solidFill>
            <a:srgbClr val="17171B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4434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38C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it yourself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4754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5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sentinel-ifrenzys-projects.vercel.app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005840" y="5303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A9A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your own account, or sign in as Ada (PIN 1234, duress 9111). Deployed on Vercel with live Gemini and durable storage.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7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457200"/>
            <a:ext cx="1097280" cy="502920"/>
          </a:xfrm>
          <a:prstGeom prst="line">
            <a:avLst/>
          </a:prstGeom>
          <a:noFill/>
          <a:ln w="9525">
            <a:solidFill>
              <a:srgbClr val="38C6EE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960120"/>
            <a:ext cx="0" cy="640080"/>
          </a:xfrm>
          <a:prstGeom prst="line">
            <a:avLst/>
          </a:prstGeom>
          <a:noFill/>
          <a:ln w="9525">
            <a:solidFill>
              <a:srgbClr val="38C6EE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93424" y="914400"/>
            <a:ext cx="91440" cy="91440"/>
          </a:xfrm>
          <a:prstGeom prst="ellipse">
            <a:avLst/>
          </a:prstGeom>
          <a:solidFill>
            <a:srgbClr val="38C6EE"/>
          </a:solidFill>
          <a:ln/>
        </p:spPr>
      </p:sp>
      <p:sp>
        <p:nvSpPr>
          <p:cNvPr id="5" name="Shape 3"/>
          <p:cNvSpPr/>
          <p:nvPr/>
        </p:nvSpPr>
        <p:spPr>
          <a:xfrm>
            <a:off x="10287000" y="420624"/>
            <a:ext cx="73152" cy="73152"/>
          </a:xfrm>
          <a:prstGeom prst="ellipse">
            <a:avLst/>
          </a:prstGeom>
          <a:solidFill>
            <a:srgbClr val="38C6EE"/>
          </a:solidFill>
          <a:ln w="12700">
            <a:solidFill>
              <a:srgbClr val="38C6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8C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IT GOES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64190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80015" y="64190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9144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5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Built to grow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640080" y="2011680"/>
            <a:ext cx="5303520" cy="1234440"/>
          </a:xfrm>
          <a:prstGeom prst="roundRect">
            <a:avLst>
              <a:gd name="adj" fmla="val 6667"/>
            </a:avLst>
          </a:prstGeom>
          <a:solidFill>
            <a:srgbClr val="0F0F12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304288"/>
            <a:ext cx="128016" cy="128016"/>
          </a:xfrm>
          <a:prstGeom prst="ellipse">
            <a:avLst/>
          </a:prstGeom>
          <a:solidFill>
            <a:srgbClr val="38C6EE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2148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SIM-swap &amp; new-device lockdown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25146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9A9A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major route to account takeover, caught by the same behavioural signals.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2011680"/>
            <a:ext cx="5303520" cy="1234440"/>
          </a:xfrm>
          <a:prstGeom prst="roundRect">
            <a:avLst>
              <a:gd name="adj" fmla="val 6667"/>
            </a:avLst>
          </a:prstGeom>
          <a:solidFill>
            <a:srgbClr val="0F0F12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2304288"/>
            <a:ext cx="128016" cy="128016"/>
          </a:xfrm>
          <a:prstGeom prst="ellipse">
            <a:avLst/>
          </a:prstGeom>
          <a:solidFill>
            <a:srgbClr val="38C6EE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2148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Vulnerability-aware protection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720840" y="25146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9A9A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Automatically dial up friction for customers who look more exposed to scams.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383280"/>
            <a:ext cx="5303520" cy="1234440"/>
          </a:xfrm>
          <a:prstGeom prst="roundRect">
            <a:avLst>
              <a:gd name="adj" fmla="val 6667"/>
            </a:avLst>
          </a:prstGeom>
          <a:solidFill>
            <a:srgbClr val="0F0F12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3675888"/>
            <a:ext cx="128016" cy="128016"/>
          </a:xfrm>
          <a:prstGeom prst="ellipse">
            <a:avLst/>
          </a:prstGeom>
          <a:solidFill>
            <a:srgbClr val="38C6EE"/>
          </a:solidFill>
          <a:ln/>
        </p:spPr>
      </p:sp>
      <p:sp>
        <p:nvSpPr>
          <p:cNvPr id="20" name="Text 18"/>
          <p:cNvSpPr/>
          <p:nvPr/>
        </p:nvSpPr>
        <p:spPr>
          <a:xfrm>
            <a:off x="1188720" y="3520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Voice-clone call detection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88720" y="38862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9A9A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Flag AI-cloned voices impersonating family members on calls.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72200" y="3383280"/>
            <a:ext cx="5303520" cy="1234440"/>
          </a:xfrm>
          <a:prstGeom prst="roundRect">
            <a:avLst>
              <a:gd name="adj" fmla="val 6667"/>
            </a:avLst>
          </a:prstGeom>
          <a:solidFill>
            <a:srgbClr val="0F0F12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46520" y="3675888"/>
            <a:ext cx="128016" cy="128016"/>
          </a:xfrm>
          <a:prstGeom prst="ellipse">
            <a:avLst/>
          </a:prstGeom>
          <a:solidFill>
            <a:srgbClr val="38C6EE"/>
          </a:solidFill>
          <a:ln/>
        </p:spPr>
      </p:sp>
      <p:sp>
        <p:nvSpPr>
          <p:cNvPr id="24" name="Text 22"/>
          <p:cNvSpPr/>
          <p:nvPr/>
        </p:nvSpPr>
        <p:spPr>
          <a:xfrm>
            <a:off x="6720840" y="3520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Fake-POS &amp; QR checks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720840" y="38862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9A9A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payment terminals and QR codes, plus a live community scam heatmap.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4754880"/>
            <a:ext cx="5303520" cy="1234440"/>
          </a:xfrm>
          <a:prstGeom prst="roundRect">
            <a:avLst>
              <a:gd name="adj" fmla="val 6667"/>
            </a:avLst>
          </a:prstGeom>
          <a:solidFill>
            <a:srgbClr val="0F0F12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5047488"/>
            <a:ext cx="128016" cy="128016"/>
          </a:xfrm>
          <a:prstGeom prst="ellipse">
            <a:avLst/>
          </a:prstGeom>
          <a:solidFill>
            <a:srgbClr val="38C6EE"/>
          </a:solidFill>
          <a:ln/>
        </p:spPr>
      </p:sp>
      <p:sp>
        <p:nvSpPr>
          <p:cNvPr id="28" name="Text 26"/>
          <p:cNvSpPr/>
          <p:nvPr/>
        </p:nvSpPr>
        <p:spPr>
          <a:xfrm>
            <a:off x="1188720" y="4892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Recovery copilot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88720" y="52578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9A9A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Walks a victim through freezing, reporting, and disputing after an incident.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72200" y="4754880"/>
            <a:ext cx="5303520" cy="1234440"/>
          </a:xfrm>
          <a:prstGeom prst="roundRect">
            <a:avLst>
              <a:gd name="adj" fmla="val 6667"/>
            </a:avLst>
          </a:prstGeom>
          <a:solidFill>
            <a:srgbClr val="0F0F12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46520" y="5047488"/>
            <a:ext cx="128016" cy="128016"/>
          </a:xfrm>
          <a:prstGeom prst="ellipse">
            <a:avLst/>
          </a:prstGeom>
          <a:solidFill>
            <a:srgbClr val="38C6EE"/>
          </a:solidFill>
          <a:ln/>
        </p:spPr>
      </p:sp>
      <p:sp>
        <p:nvSpPr>
          <p:cNvPr id="32" name="Text 30"/>
          <p:cNvSpPr/>
          <p:nvPr/>
        </p:nvSpPr>
        <p:spPr>
          <a:xfrm>
            <a:off x="6720840" y="4892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On-device scoring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720840" y="52578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9A9A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Privacy by design — sensitive behaviour never leaves the phone.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7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1188720"/>
            <a:ext cx="1737360" cy="0"/>
          </a:xfrm>
          <a:prstGeom prst="line">
            <a:avLst/>
          </a:prstGeom>
          <a:noFill/>
          <a:ln w="9525">
            <a:solidFill>
              <a:srgbClr val="38C6EE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0" y="822960"/>
            <a:ext cx="1554480" cy="1005840"/>
          </a:xfrm>
          <a:prstGeom prst="line">
            <a:avLst/>
          </a:prstGeom>
          <a:noFill/>
          <a:ln w="9525">
            <a:solidFill>
              <a:srgbClr val="38C6EE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1188720"/>
            <a:ext cx="1005840" cy="1645920"/>
          </a:xfrm>
          <a:prstGeom prst="line">
            <a:avLst/>
          </a:prstGeom>
          <a:noFill/>
          <a:ln w="9525">
            <a:solidFill>
              <a:srgbClr val="38C6EE">
                <a:alpha val="1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0" y="2834640"/>
            <a:ext cx="0" cy="1371600"/>
          </a:xfrm>
          <a:prstGeom prst="line">
            <a:avLst/>
          </a:prstGeom>
          <a:noFill/>
          <a:ln w="9525">
            <a:solidFill>
              <a:srgbClr val="38C6EE">
                <a:alpha val="1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81360" y="1371600"/>
            <a:ext cx="457200" cy="1737360"/>
          </a:xfrm>
          <a:prstGeom prst="line">
            <a:avLst/>
          </a:prstGeom>
          <a:noFill/>
          <a:ln w="9525">
            <a:solidFill>
              <a:srgbClr val="38C6EE">
                <a:alpha val="1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38560" y="3108960"/>
            <a:ext cx="0" cy="1645920"/>
          </a:xfrm>
          <a:prstGeom prst="line">
            <a:avLst/>
          </a:prstGeom>
          <a:noFill/>
          <a:ln w="9525">
            <a:solidFill>
              <a:srgbClr val="38C6EE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5520" y="4754880"/>
            <a:ext cx="1188720" cy="914400"/>
          </a:xfrm>
          <a:prstGeom prst="line">
            <a:avLst/>
          </a:prstGeom>
          <a:noFill/>
          <a:ln w="9525">
            <a:solidFill>
              <a:srgbClr val="38C6EE">
                <a:alpha val="1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828800"/>
            <a:ext cx="6583680" cy="0"/>
          </a:xfrm>
          <a:prstGeom prst="line">
            <a:avLst/>
          </a:prstGeom>
          <a:noFill/>
          <a:ln w="9525">
            <a:solidFill>
              <a:srgbClr val="38C6EE">
                <a:alpha val="1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4692" y="1147572"/>
            <a:ext cx="82296" cy="82296"/>
          </a:xfrm>
          <a:prstGeom prst="ellipse">
            <a:avLst/>
          </a:prstGeom>
          <a:solidFill>
            <a:srgbClr val="38C6EE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702052" y="781812"/>
            <a:ext cx="82296" cy="82296"/>
          </a:xfrm>
          <a:prstGeom prst="ellipse">
            <a:avLst/>
          </a:prstGeom>
          <a:solidFill>
            <a:srgbClr val="38C6EE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256532" y="1787652"/>
            <a:ext cx="82296" cy="82296"/>
          </a:xfrm>
          <a:prstGeom prst="ellipse">
            <a:avLst/>
          </a:prstGeom>
          <a:solidFill>
            <a:srgbClr val="38C6EE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970532" y="2793492"/>
            <a:ext cx="82296" cy="82296"/>
          </a:xfrm>
          <a:prstGeom prst="ellipse">
            <a:avLst/>
          </a:prstGeom>
          <a:solidFill>
            <a:srgbClr val="38C6EE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81812" y="4165092"/>
            <a:ext cx="82296" cy="82296"/>
          </a:xfrm>
          <a:prstGeom prst="ellipse">
            <a:avLst/>
          </a:prstGeom>
          <a:solidFill>
            <a:srgbClr val="38C6EE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840212" y="1330452"/>
            <a:ext cx="82296" cy="82296"/>
          </a:xfrm>
          <a:prstGeom prst="ellipse">
            <a:avLst/>
          </a:prstGeom>
          <a:solidFill>
            <a:srgbClr val="38C6EE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297412" y="3067812"/>
            <a:ext cx="82296" cy="82296"/>
          </a:xfrm>
          <a:prstGeom prst="ellipse">
            <a:avLst/>
          </a:prstGeom>
          <a:solidFill>
            <a:srgbClr val="38C6EE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834372" y="4713732"/>
            <a:ext cx="82296" cy="82296"/>
          </a:xfrm>
          <a:prstGeom prst="ellipse">
            <a:avLst/>
          </a:prstGeom>
          <a:solidFill>
            <a:srgbClr val="38C6EE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023092" y="5628132"/>
            <a:ext cx="82296" cy="82296"/>
          </a:xfrm>
          <a:prstGeom prst="ellipse">
            <a:avLst/>
          </a:prstGeom>
          <a:solidFill>
            <a:srgbClr val="38C6EE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336292" y="5719572"/>
            <a:ext cx="82296" cy="82296"/>
          </a:xfrm>
          <a:prstGeom prst="ellipse">
            <a:avLst/>
          </a:prstGeom>
          <a:solidFill>
            <a:srgbClr val="38C6EE">
              <a:alpha val="6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0" y="2286000"/>
            <a:ext cx="12191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Lighter when you're safe.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0" y="2926080"/>
            <a:ext cx="12191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F5F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Stronger when you're not.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0" y="3566160"/>
            <a:ext cx="12191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8C6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And it protects everyone at once.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0" y="45720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A9A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that disappears when you're you.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Sentinel  ·  sentinel-ifrenzys-projects.vercel.app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1056</Words>
  <Application>Microsoft Office PowerPoint</Application>
  <PresentationFormat>Widescreen</PresentationFormat>
  <Paragraphs>170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Consolas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 — HackX 2026</dc:title>
  <dc:subject>PptxGenJS Presentation</dc:subject>
  <dc:creator>Team Sentinel</dc:creator>
  <cp:lastModifiedBy>Samuel Pram</cp:lastModifiedBy>
  <cp:revision>5</cp:revision>
  <dcterms:created xsi:type="dcterms:W3CDTF">2026-07-11T22:54:28Z</dcterms:created>
  <dcterms:modified xsi:type="dcterms:W3CDTF">2026-07-14T08:47:18Z</dcterms:modified>
</cp:coreProperties>
</file>